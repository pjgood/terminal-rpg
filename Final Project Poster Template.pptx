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147"/>
    <a:srgbClr val="B50C00"/>
    <a:srgbClr val="5C1C49"/>
    <a:srgbClr val="646464"/>
    <a:srgbClr val="B83D00"/>
    <a:srgbClr val="713D04"/>
    <a:srgbClr val="3F4A13"/>
    <a:srgbClr val="BD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257" autoAdjust="0"/>
  </p:normalViewPr>
  <p:slideViewPr>
    <p:cSldViewPr>
      <p:cViewPr>
        <p:scale>
          <a:sx n="20" d="100"/>
          <a:sy n="20" d="100"/>
        </p:scale>
        <p:origin x="492" y="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02967-EB2C-4717-9E17-BC16B9A1EF6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7003-B06F-45C9-B82D-CBEC42AAE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367003-B06F-45C9-B82D-CBEC42AAE8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1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1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6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6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8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5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3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1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6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72153-8F8D-40E9-B7DF-307C37E3945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AB96A-0B28-4160-A022-BE9C7DB2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5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9">
            <a:extLst>
              <a:ext uri="{FF2B5EF4-FFF2-40B4-BE49-F238E27FC236}">
                <a16:creationId xmlns:a16="http://schemas.microsoft.com/office/drawing/2014/main" id="{4CDF9E46-1A09-489B-B293-F40C5919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92"/>
            <a:ext cx="43891200" cy="5335588"/>
          </a:xfrm>
          <a:prstGeom prst="rect">
            <a:avLst/>
          </a:prstGeom>
          <a:solidFill>
            <a:srgbClr val="0070C0">
              <a:alpha val="87842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438912" tIns="219456" rIns="438912" bIns="219456" anchor="ctr"/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CL" altLang="es-CL" sz="8200">
              <a:latin typeface="+mj-lt"/>
            </a:endParaRPr>
          </a:p>
        </p:txBody>
      </p:sp>
      <p:sp>
        <p:nvSpPr>
          <p:cNvPr id="69" name="Rectangle 2"/>
          <p:cNvSpPr txBox="1">
            <a:spLocks noChangeArrowheads="1"/>
          </p:cNvSpPr>
          <p:nvPr/>
        </p:nvSpPr>
        <p:spPr>
          <a:xfrm>
            <a:off x="0" y="228599"/>
            <a:ext cx="43891200" cy="5486401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>
            <a:lvl1pPr algn="ctr" defTabSz="4389120" rtl="0" eaLnBrk="1" latinLnBrk="0" hangingPunct="1">
              <a:spcBef>
                <a:spcPct val="0"/>
              </a:spcBef>
              <a:buNone/>
              <a:defRPr sz="21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9700" b="1" i="1" dirty="0">
                <a:solidFill>
                  <a:schemeClr val="bg1"/>
                </a:solidFill>
                <a:cs typeface="Arial" panose="020B0604020202020204" pitchFamily="34" charset="0"/>
              </a:rPr>
              <a:t>Name of the Project</a:t>
            </a:r>
          </a:p>
          <a:p>
            <a:r>
              <a:rPr lang="en-US" altLang="en-US" sz="6900" b="1" dirty="0">
                <a:solidFill>
                  <a:srgbClr val="FFC000"/>
                </a:solidFill>
                <a:cs typeface="Arial" panose="020B0604020202020204" pitchFamily="34" charset="0"/>
              </a:rPr>
              <a:t>Student Name- Spring 2026 </a:t>
            </a:r>
          </a:p>
          <a:p>
            <a:r>
              <a:rPr lang="en-US" altLang="en-US" sz="6900" b="1" dirty="0">
                <a:solidFill>
                  <a:srgbClr val="FFC000"/>
                </a:solidFill>
                <a:cs typeface="Arial" panose="020B0604020202020204" pitchFamily="34" charset="0"/>
              </a:rPr>
              <a:t>APCV 498 Senior Capstone </a:t>
            </a:r>
          </a:p>
        </p:txBody>
      </p:sp>
      <p:sp>
        <p:nvSpPr>
          <p:cNvPr id="75" name="Rectangle 59"/>
          <p:cNvSpPr>
            <a:spLocks noChangeArrowheads="1"/>
          </p:cNvSpPr>
          <p:nvPr/>
        </p:nvSpPr>
        <p:spPr bwMode="auto">
          <a:xfrm>
            <a:off x="10922582" y="5678510"/>
            <a:ext cx="21393193" cy="2684660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 dirty="0">
                <a:latin typeface="+mj-lt"/>
                <a:cs typeface="Arial" panose="020B0604020202020204" pitchFamily="34" charset="0"/>
              </a:rPr>
              <a:t>Design or Development Process (Include visual representations of your project here)</a:t>
            </a:r>
            <a:r>
              <a:rPr lang="en-US" altLang="en-US" sz="5000" b="1" u="sng" dirty="0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6" name="Rectangle 37"/>
          <p:cNvSpPr txBox="1">
            <a:spLocks noChangeArrowheads="1"/>
          </p:cNvSpPr>
          <p:nvPr/>
        </p:nvSpPr>
        <p:spPr>
          <a:xfrm>
            <a:off x="568517" y="5678510"/>
            <a:ext cx="9726329" cy="1003773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lIns="438912" tIns="219456" rIns="438912" bIns="219456" rtlCol="0">
            <a:noAutofit/>
          </a:bodyPr>
          <a:lstStyle>
            <a:lvl1pPr marL="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6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12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68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24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80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36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92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480" indent="0" algn="ctr" defTabSz="438912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50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Introduction/Overview of the Project</a:t>
            </a:r>
          </a:p>
          <a:p>
            <a:pPr algn="l"/>
            <a:r>
              <a:rPr lang="en-US" altLang="en-US" sz="3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 </a:t>
            </a:r>
            <a:endParaRPr lang="en-US" altLang="en-US" sz="40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7" name="Rectangle 40"/>
          <p:cNvSpPr>
            <a:spLocks noChangeArrowheads="1"/>
          </p:cNvSpPr>
          <p:nvPr/>
        </p:nvSpPr>
        <p:spPr bwMode="auto">
          <a:xfrm>
            <a:off x="568516" y="16060152"/>
            <a:ext cx="9726329" cy="415089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 dirty="0">
                <a:latin typeface="+mj-lt"/>
                <a:cs typeface="Arial" panose="020B0604020202020204" pitchFamily="34" charset="0"/>
              </a:rPr>
              <a:t>Technologies 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560671" y="20554950"/>
            <a:ext cx="9726329" cy="11970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>
                <a:latin typeface="+mj-lt"/>
                <a:cs typeface="Arial" panose="020B0604020202020204" pitchFamily="34" charset="0"/>
              </a:rPr>
              <a:t>Objectives (or Requirements) </a:t>
            </a:r>
            <a:endParaRPr lang="en-US" altLang="en-US" sz="50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79" name="Rectangle 60"/>
          <p:cNvSpPr>
            <a:spLocks noChangeArrowheads="1"/>
          </p:cNvSpPr>
          <p:nvPr/>
        </p:nvSpPr>
        <p:spPr bwMode="auto">
          <a:xfrm>
            <a:off x="32953187" y="23115210"/>
            <a:ext cx="10549170" cy="940990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 dirty="0">
                <a:latin typeface="+mj-lt"/>
                <a:cs typeface="Arial" panose="020B0604020202020204" pitchFamily="34" charset="0"/>
              </a:rPr>
              <a:t>References (or Useful Links)</a:t>
            </a:r>
          </a:p>
          <a:p>
            <a:pPr algn="ctr"/>
            <a:endParaRPr lang="en-US" altLang="en-US" sz="5000" b="1" dirty="0">
              <a:latin typeface="+mj-lt"/>
              <a:cs typeface="Arial" panose="020B0604020202020204" pitchFamily="34" charset="0"/>
            </a:endParaRPr>
          </a:p>
          <a:p>
            <a:pPr algn="ctr"/>
            <a:endParaRPr lang="en-US" altLang="en-US" sz="3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0" name="Rectangle 40"/>
          <p:cNvSpPr>
            <a:spLocks noChangeArrowheads="1"/>
          </p:cNvSpPr>
          <p:nvPr/>
        </p:nvSpPr>
        <p:spPr bwMode="auto">
          <a:xfrm>
            <a:off x="32943510" y="5678510"/>
            <a:ext cx="10549170" cy="818989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 dirty="0">
                <a:latin typeface="+mj-lt"/>
                <a:cs typeface="Arial" panose="020B0604020202020204" pitchFamily="34" charset="0"/>
              </a:rPr>
              <a:t>Conclusions (or Outcomes)</a:t>
            </a:r>
          </a:p>
          <a:p>
            <a:r>
              <a:rPr lang="en-US" altLang="en-US" sz="3600" b="1" u="sng" dirty="0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1" name="Rectangle 40"/>
          <p:cNvSpPr>
            <a:spLocks noChangeArrowheads="1"/>
          </p:cNvSpPr>
          <p:nvPr/>
        </p:nvSpPr>
        <p:spPr bwMode="auto">
          <a:xfrm>
            <a:off x="32943510" y="15716248"/>
            <a:ext cx="10549170" cy="69193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38875" tIns="219437" rIns="438875" bIns="219437"/>
          <a:lstStyle>
            <a:lvl1pPr defTabSz="4179888">
              <a:spcBef>
                <a:spcPct val="20000"/>
              </a:spcBef>
              <a:spcAft>
                <a:spcPct val="25000"/>
              </a:spcAft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828800" indent="-1306513" defTabSz="4179888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1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395663" indent="-1044575" defTabSz="4179888">
              <a:spcBef>
                <a:spcPct val="40000"/>
              </a:spcBef>
              <a:buChar char="•"/>
              <a:defRPr sz="91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53100" indent="-1044575" defTabSz="4179888">
              <a:spcBef>
                <a:spcPct val="40000"/>
              </a:spcBef>
              <a:buChar char="–"/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02400" defTabSz="4179888">
              <a:spcBef>
                <a:spcPct val="20000"/>
              </a:spcBef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9596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168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8740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331200" defTabSz="4179888" fontAlgn="base">
              <a:spcBef>
                <a:spcPct val="2000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000" b="1" dirty="0">
                <a:latin typeface="+mj-lt"/>
                <a:cs typeface="Arial" panose="020B0604020202020204" pitchFamily="34" charset="0"/>
              </a:rPr>
              <a:t>Recommendations or Future Work</a:t>
            </a:r>
          </a:p>
          <a:p>
            <a:pPr algn="ctr"/>
            <a:endParaRPr lang="en-US" altLang="en-US" sz="2500" b="1" u="sng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3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55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Czerkawski, Betül C - (bcozkan)</cp:lastModifiedBy>
  <cp:revision>2</cp:revision>
  <dcterms:created xsi:type="dcterms:W3CDTF">2015-04-17T18:38:38Z</dcterms:created>
  <dcterms:modified xsi:type="dcterms:W3CDTF">2025-12-05T01:26:58Z</dcterms:modified>
</cp:coreProperties>
</file>